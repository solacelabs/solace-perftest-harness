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</p:sldMasterIdLst>
  <p:notesMasterIdLst>
    <p:notesMasterId r:id="rId26"/>
  </p:notesMasterIdLst>
  <p:sldIdLst>
    <p:sldId id="3000" r:id="rId6"/>
    <p:sldId id="3019" r:id="rId7"/>
    <p:sldId id="3001" r:id="rId8"/>
    <p:sldId id="3002" r:id="rId9"/>
    <p:sldId id="3003" r:id="rId10"/>
    <p:sldId id="3016" r:id="rId11"/>
    <p:sldId id="3015" r:id="rId12"/>
    <p:sldId id="3017" r:id="rId13"/>
    <p:sldId id="3004" r:id="rId14"/>
    <p:sldId id="3018" r:id="rId15"/>
    <p:sldId id="3005" r:id="rId16"/>
    <p:sldId id="3006" r:id="rId17"/>
    <p:sldId id="3007" r:id="rId18"/>
    <p:sldId id="3008" r:id="rId19"/>
    <p:sldId id="3009" r:id="rId20"/>
    <p:sldId id="3010" r:id="rId21"/>
    <p:sldId id="3011" r:id="rId22"/>
    <p:sldId id="3012" r:id="rId23"/>
    <p:sldId id="3013" r:id="rId24"/>
    <p:sldId id="301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D675A09-6A84-4A9E-85B7-B821DAFA89D4}">
          <p14:sldIdLst>
            <p14:sldId id="3000"/>
            <p14:sldId id="3019"/>
            <p14:sldId id="3001"/>
            <p14:sldId id="3002"/>
            <p14:sldId id="3003"/>
            <p14:sldId id="3016"/>
            <p14:sldId id="3015"/>
            <p14:sldId id="3017"/>
            <p14:sldId id="3004"/>
            <p14:sldId id="3018"/>
          </p14:sldIdLst>
        </p14:section>
        <p14:section name="Appendix" id="{B196E3BA-D957-45E9-B107-6634AECDA0D9}">
          <p14:sldIdLst/>
        </p14:section>
        <p14:section name="sdkperf script details" id="{F2FC3DF8-D87F-4EF9-AB11-417AA46AF252}">
          <p14:sldIdLst>
            <p14:sldId id="3005"/>
            <p14:sldId id="3006"/>
            <p14:sldId id="3007"/>
            <p14:sldId id="3008"/>
          </p14:sldIdLst>
        </p14:section>
        <p14:section name="Ansible details" id="{C056558D-BCB1-4D01-BA23-6CD8C8444424}">
          <p14:sldIdLst>
            <p14:sldId id="3009"/>
            <p14:sldId id="3010"/>
            <p14:sldId id="3011"/>
            <p14:sldId id="3012"/>
          </p14:sldIdLst>
        </p14:section>
        <p14:section name="Wrapper details" id="{A435920E-A11F-4427-AD15-A28F85DCE1D6}">
          <p14:sldIdLst>
            <p14:sldId id="3013"/>
            <p14:sldId id="30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>
      <p:cViewPr varScale="1">
        <p:scale>
          <a:sx n="110" d="100"/>
          <a:sy n="110" d="100"/>
        </p:scale>
        <p:origin x="8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AAD14-9C34-4AA5-B94E-6692F6349C3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7F935-64E3-4FF9-8DEF-2D51FA78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8.svg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25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437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373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8040000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4005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56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59E6556-57B1-B408-D804-9FA5BC1308C4}"/>
              </a:ext>
            </a:extLst>
          </p:cNvPr>
          <p:cNvGrpSpPr/>
          <p:nvPr userDrawn="1"/>
        </p:nvGrpSpPr>
        <p:grpSpPr>
          <a:xfrm>
            <a:off x="6888000" y="332656"/>
            <a:ext cx="6276674" cy="5843298"/>
            <a:chOff x="5797318" y="332656"/>
            <a:chExt cx="6276674" cy="5843298"/>
          </a:xfrm>
        </p:grpSpPr>
        <p:sp>
          <p:nvSpPr>
            <p:cNvPr id="43" name="Graphic 41">
              <a:extLst>
                <a:ext uri="{FF2B5EF4-FFF2-40B4-BE49-F238E27FC236}">
                  <a16:creationId xmlns:a16="http://schemas.microsoft.com/office/drawing/2014/main" id="{969F7A7C-F56B-5EA2-CEDB-C3018FB3E56D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026AA2B3-ADD5-9E91-EE90-8CA8079DF07E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46F980C-D371-51A4-BFAF-0D988442E896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24D33AA-17A5-AD3C-47CB-C235523F6E95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EC3E93C-3A6F-6643-610C-12296CC8C6D9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094DF1C-A969-A8D9-6C37-6553A2B71AFC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03329D2-BC94-696A-4C35-CDDD8197EB39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A3591DD-F3A8-A03D-EB5B-A0EB18871B7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8196927-BBB7-FF95-A5F7-090E1F89D514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9BD377A2-FF86-B752-6A7B-0C7B42F2A65E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A819162-4F92-9CE1-266D-C3036C094DBE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228DA33-39B2-4FAA-AE60-99CB558A6DCB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766673F-117F-B1A0-5E0C-011B96A80452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BB9DD75-E623-1063-4AF7-B388B7C36A44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0A0E295-63B7-6BCC-483C-4BC95EFEE61C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A4E385-FF66-6719-4CB5-DC19293047E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7082CB-E60C-66BA-112C-7E110A2EF0B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4426DAB-EC49-97B6-8BAA-250B2F3420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EFF8D-C896-9FCB-CCD9-055E2DE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438CF-A668-47D4-D56F-CEE9B521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3311E4-A084-8644-4A2C-81E8B32124A6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96703DE-8690-EFFB-7268-F2E9AF457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ACC7893-2CFD-6A2C-B065-D787A12A3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subtitle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FA95311-77E2-E862-BFF5-6934BE406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6657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60000" y="-1"/>
            <a:ext cx="5232000" cy="685798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14C4D-992C-08AD-7433-20C760BC8A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F4FA-2BB1-E76D-62AA-FDCD0FCA08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44CC65-E1B1-5D09-E60C-9501318FFDE8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CB8EB12-83EE-B460-B9C4-FB3C1BEDB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5929550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670548-7E5E-8263-0D27-D6C602F15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28CD543-D355-2BFE-6222-6DB45B484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9898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60000" y="-1"/>
            <a:ext cx="5232000" cy="685798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A80E0-3E50-3DF4-4445-AE33835012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DA5D-C211-08C0-E0A0-CB9651D538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F7999-AF75-0EA8-FBAC-B1B74CC6CE42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71676F4-CEB5-1E44-9AF0-47F07C450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8CF5182-773F-3E58-77E1-56F3C334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5F2774E-D112-1740-985F-CB14C365A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825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728739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22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een 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E216BBF-AD11-64D7-E0AF-8D45D2476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C61A1CB-D9F9-A727-40EB-A2C367E865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7E035C5-6C77-1F49-38D4-CA09F461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728739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968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753A11D-F30A-BF3A-76C0-84C62D52A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5F0C7C3-25A3-6F8C-4351-C7890DFA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866357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7715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676" r="25349"/>
          <a:stretch>
            <a:fillRect/>
          </a:stretch>
        </p:blipFill>
        <p:spPr>
          <a:xfrm>
            <a:off x="8832001" y="-4"/>
            <a:ext cx="3360000" cy="384454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FBC019-A227-E8F6-3BFB-71012198A9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5999" y="1773000"/>
            <a:ext cx="7383799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5B8BD-E377-EC3D-6E62-BF2DF8474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620938"/>
            <a:ext cx="8352212" cy="1008062"/>
          </a:xfrm>
        </p:spPr>
        <p:txBody>
          <a:bodyPr>
            <a:no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  <a:lvl2pPr marL="79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6BB6B9-1EF2-26D5-D3E9-7925E8A60494}"/>
              </a:ext>
            </a:extLst>
          </p:cNvPr>
          <p:cNvSpPr txBox="1"/>
          <p:nvPr userDrawn="1"/>
        </p:nvSpPr>
        <p:spPr>
          <a:xfrm>
            <a:off x="2639238" y="1041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90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70DEDD-8457-BBBA-6DFE-793D380F2E92}"/>
              </a:ext>
            </a:extLst>
          </p:cNvPr>
          <p:cNvSpPr txBox="1"/>
          <p:nvPr userDrawn="1"/>
        </p:nvSpPr>
        <p:spPr>
          <a:xfrm>
            <a:off x="1134787" y="393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6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8A18B98-04E6-634D-8D70-7970E66791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6000" y="1773000"/>
            <a:ext cx="7848000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1EE761-1C34-46D5-9FDD-063C66D50B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2676" r="25349"/>
          <a:stretch>
            <a:fillRect/>
          </a:stretch>
        </p:blipFill>
        <p:spPr>
          <a:xfrm>
            <a:off x="8832000" y="-5"/>
            <a:ext cx="3360000" cy="384454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69D0B96-9BFD-1FA2-5B35-06899B4D12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168E20C-EE07-5AE1-6619-37388EC66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BB576-AEB0-54EE-C12B-A1AEF658EE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10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E4E56B-8402-AAB4-DD13-CB54D38026C6}"/>
              </a:ext>
            </a:extLst>
          </p:cNvPr>
          <p:cNvSpPr txBox="1"/>
          <p:nvPr userDrawn="1"/>
        </p:nvSpPr>
        <p:spPr>
          <a:xfrm>
            <a:off x="1134787" y="393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6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E36D60D-81F0-65D5-9F1D-7739CCD57D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6000" y="1773000"/>
            <a:ext cx="7776000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40A74B2-3261-15AC-14BC-F61DE7C751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2676" r="25349"/>
          <a:stretch>
            <a:fillRect/>
          </a:stretch>
        </p:blipFill>
        <p:spPr>
          <a:xfrm>
            <a:off x="8832000" y="-5"/>
            <a:ext cx="3360000" cy="384454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313176C-ECD2-C67D-831E-08EC708D9C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CD39DCF-98C5-AC5D-49A2-3A4AAECA4B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67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 Guida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91600" y="0"/>
            <a:ext cx="3200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367261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378244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664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32D2F1-B120-2024-013D-55E7B8C3274D}"/>
              </a:ext>
            </a:extLst>
          </p:cNvPr>
          <p:cNvSpPr/>
          <p:nvPr userDrawn="1"/>
        </p:nvSpPr>
        <p:spPr>
          <a:xfrm>
            <a:off x="0" y="0"/>
            <a:ext cx="8991600" cy="1076325"/>
          </a:xfrm>
          <a:prstGeom prst="rect">
            <a:avLst/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/>
              <a:ea typeface="+mn-ea"/>
              <a:cs typeface="Calibri"/>
              <a:sym typeface="Gill San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BDCBCE-319D-3EBF-C0B2-1BF158C95EF3}"/>
              </a:ext>
            </a:extLst>
          </p:cNvPr>
          <p:cNvSpPr/>
          <p:nvPr userDrawn="1"/>
        </p:nvSpPr>
        <p:spPr>
          <a:xfrm>
            <a:off x="0" y="6237288"/>
            <a:ext cx="12192000" cy="653030"/>
          </a:xfrm>
          <a:prstGeom prst="rect">
            <a:avLst/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"/>
                <a:ea typeface="+mn-ea"/>
                <a:cs typeface="+mn-cs"/>
                <a:sym typeface="Gill Sans"/>
              </a:rPr>
              <a:t>NOT FOR EXTERNAL USE – DELETE THIS SLIDE BEFORE USING WITH A PROSPECT!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/>
              <a:ea typeface="+mn-ea"/>
              <a:cs typeface="Calibri"/>
              <a:sym typeface="Gill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>
            <a:lvl1pPr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23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482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585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44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42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w/ Lef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00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835200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3200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94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/ Lef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00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3192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3520" y="1341439"/>
            <a:ext cx="384048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3200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60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Lef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-1" y="1052513"/>
            <a:ext cx="4114800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4862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-1" y="1053000"/>
            <a:ext cx="4114800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3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Left Sidebar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5486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0000" y="1341439"/>
            <a:ext cx="2859242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21464" y="1341439"/>
            <a:ext cx="2806536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5486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4752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87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91600" y="0"/>
            <a:ext cx="3200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3913770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385444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336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408912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407774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00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1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/ Righ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568800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10AAB02C-5F77-5304-774E-0846E7B1F6AE}"/>
              </a:ext>
            </a:extLst>
          </p:cNvPr>
          <p:cNvPicPr preferRelativeResize="0">
            <a:picLocks/>
          </p:cNvPicPr>
          <p:nvPr userDrawn="1"/>
        </p:nvPicPr>
        <p:blipFill>
          <a:blip r:embed="rId4" cstate="print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01" t="8547" r="2359" b="4190"/>
          <a:stretch>
            <a:fillRect/>
          </a:stretch>
        </p:blipFill>
        <p:spPr>
          <a:xfrm>
            <a:off x="6848363" y="750888"/>
            <a:ext cx="5486400" cy="5486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983510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6240000" y="0"/>
            <a:ext cx="595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32712"/>
            <a:ext cx="5545137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2518689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33312" y="1341438"/>
            <a:ext cx="2518689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672000" y="1341438"/>
            <a:ext cx="5184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489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1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842368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803695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05565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066892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46CB24CE-A94C-56EE-FD12-4AF6B36586E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368762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3D1EA570-D6FA-8AE6-34D2-8B48A4FCC4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330089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1C152C6-4B50-CF90-C6A1-6121AC6FF96E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631959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BE9CEB31-6907-B191-42A7-4DC4609DBEA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593286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2563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2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423051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84377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66930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28256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46CB24CE-A94C-56EE-FD12-4AF6B36586E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110808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3D1EA570-D6FA-8AE6-34D2-8B48A4FCC4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072134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5175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2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400923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362249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222674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184000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0315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1" y="2316956"/>
            <a:ext cx="526215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533950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350675" y="2316956"/>
            <a:ext cx="526215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312002" y="1341161"/>
            <a:ext cx="533950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5996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2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6030" y="1341116"/>
            <a:ext cx="5184496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12000" y="1340769"/>
            <a:ext cx="5182870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6030" y="3789040"/>
            <a:ext cx="5184496" cy="24482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12000" y="3789040"/>
            <a:ext cx="5182870" cy="24482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0816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3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5777" y="1341463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39585" y="1341116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777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39585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4001" y="1341116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184001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947056-0F06-C2EC-9F22-37F9D907D671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90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4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3009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009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30712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30712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39024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39024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47336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336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8960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132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357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2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5" y="1341438"/>
            <a:ext cx="5257124" cy="4895850"/>
          </a:xfrm>
        </p:spPr>
        <p:txBody>
          <a:bodyPr r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3493" y="1340757"/>
            <a:ext cx="5255992" cy="4896308"/>
          </a:xfrm>
        </p:spPr>
        <p:txBody>
          <a:bodyPr r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0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4344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7825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542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4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56575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9B3FAB-B840-DB7F-EC3F-865B1970FB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5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01C4E9-7069-CD55-73FA-EAA549D1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EA542A-8BAB-A2C4-D243-992E385D0629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41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73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image" Target="../media/image3.sv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3B166F3-B7E3-8F7D-DD55-374CDD77829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11089754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1438"/>
            <a:ext cx="11088000" cy="47518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6AF4FEA6-CCA3-5154-98D3-775009DAD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D63A-3DCF-6F76-37D2-BB1047842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0000" y="6381000"/>
            <a:ext cx="1512000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E529-5FD5-3C60-3388-392DEFE0C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7" r:id="rId2"/>
    <p:sldLayoutId id="2147483708" r:id="rId3"/>
    <p:sldLayoutId id="2147483710" r:id="rId4"/>
    <p:sldLayoutId id="2147483717" r:id="rId5"/>
    <p:sldLayoutId id="2147483716" r:id="rId6"/>
    <p:sldLayoutId id="2147483703" r:id="rId7"/>
    <p:sldLayoutId id="2147483718" r:id="rId8"/>
    <p:sldLayoutId id="2147483783" r:id="rId9"/>
    <p:sldLayoutId id="2147483784" r:id="rId10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38" orient="horz" pos="4065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4320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</a:t>
            </a:r>
          </a:p>
          <a:p>
            <a:pPr lvl="4"/>
            <a:r>
              <a:rPr lang="en-US" dirty="0"/>
              <a:t>Fifth</a:t>
            </a:r>
          </a:p>
          <a:p>
            <a:pPr lvl="5"/>
            <a:r>
              <a:rPr lang="en-US" dirty="0"/>
              <a:t>Sixth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bg1"/>
                </a:solidFill>
                <a:latin typeface="+mj-lt"/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678" r:id="rId2"/>
    <p:sldLayoutId id="2147483681" r:id="rId3"/>
    <p:sldLayoutId id="2147483682" r:id="rId4"/>
    <p:sldLayoutId id="2147483752" r:id="rId5"/>
    <p:sldLayoutId id="2147483782" r:id="rId6"/>
    <p:sldLayoutId id="2147483809" r:id="rId7"/>
    <p:sldLayoutId id="2147483750" r:id="rId8"/>
    <p:sldLayoutId id="2147483754" r:id="rId9"/>
    <p:sldLayoutId id="2147483684" r:id="rId10"/>
    <p:sldLayoutId id="2147483751" r:id="rId11"/>
    <p:sldLayoutId id="2147483810" r:id="rId12"/>
    <p:sldLayoutId id="2147483755" r:id="rId13"/>
    <p:sldLayoutId id="2147483769" r:id="rId14"/>
    <p:sldLayoutId id="2147483779" r:id="rId15"/>
    <p:sldLayoutId id="2147483780" r:id="rId16"/>
    <p:sldLayoutId id="2147483781" r:id="rId17"/>
    <p:sldLayoutId id="2147483690" r:id="rId18"/>
    <p:sldLayoutId id="2147483689" r:id="rId19"/>
    <p:sldLayoutId id="2147483692" r:id="rId20"/>
    <p:sldLayoutId id="2147483694" r:id="rId21"/>
    <p:sldLayoutId id="2147483696" r:id="rId22"/>
    <p:sldLayoutId id="2147483697" r:id="rId23"/>
    <p:sldLayoutId id="2147483698" r:id="rId24"/>
    <p:sldLayoutId id="2147483753" r:id="rId25"/>
    <p:sldLayoutId id="2147483705" r:id="rId26"/>
    <p:sldLayoutId id="2147483699" r:id="rId2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555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461963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3929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  <p15:guide id="43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646B7BAC-D18D-4DE7-9ED3-103A0481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00" y="897939"/>
            <a:ext cx="8476440" cy="1023938"/>
          </a:xfrm>
        </p:spPr>
        <p:txBody>
          <a:bodyPr/>
          <a:lstStyle/>
          <a:p>
            <a:r>
              <a:rPr lang="en-US" dirty="0"/>
              <a:t>Solace Performance Testing Harness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9441490-03C8-42FF-9727-59B43FEA7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416" y="4077000"/>
            <a:ext cx="7156450" cy="166922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Christian Holtfurth</a:t>
            </a:r>
          </a:p>
          <a:p>
            <a:r>
              <a:rPr lang="en-US" dirty="0"/>
              <a:t>30/04/2026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10761F-F70E-46E0-A460-AEAC8EA93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440" y="5589000"/>
            <a:ext cx="1212918" cy="12129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96B8E0-0A1D-4A69-B7C3-6DF4074D9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46220" y="2816749"/>
            <a:ext cx="2261733" cy="226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7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4CD3C77-EA31-7269-9A16-758D81F7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8E503F-FCAE-99A9-8406-5704739FE3D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Easy validation of broker infrastructure against benchmarks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Identify throughput capacity of a broker on infrastructure of unknown or unqualified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Run custom tests to determine throughput for specific business scenarios (message size and fanout).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EE8CBDF-8E38-5869-AF8D-0D5E670259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Feed into capacity planning and identify potential bottlenecks before they become an issue.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934CD8-F232-7A2F-9CD7-A88A43D12D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385F10-17F9-10E8-BC93-5BA8015391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958163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42519" y="1045622"/>
            <a:ext cx="6784509" cy="4551570"/>
          </a:xfrm>
        </p:spPr>
        <p:txBody>
          <a:bodyPr/>
          <a:lstStyle/>
          <a:p>
            <a:r>
              <a:rPr lang="en-US" sz="2400" dirty="0"/>
              <a:t>Performance testing isn’t easy.</a:t>
            </a:r>
          </a:p>
          <a:p>
            <a:r>
              <a:rPr lang="en-US" sz="2400" dirty="0"/>
              <a:t>And gathering a full set of performance metrics on a broker manually takes a lot of time:</a:t>
            </a:r>
          </a:p>
          <a:p>
            <a:pPr lvl="1"/>
            <a:r>
              <a:rPr lang="en-US" sz="2000" dirty="0"/>
              <a:t>Lot of tests with varying message sizes and fan-out ratios as well as different message types</a:t>
            </a:r>
          </a:p>
          <a:p>
            <a:pPr lvl="1"/>
            <a:r>
              <a:rPr lang="en-US" sz="2000" dirty="0"/>
              <a:t>Each test needs to be run for a min amount of time to make sure we are not spooling etc.</a:t>
            </a:r>
          </a:p>
          <a:p>
            <a:pPr lvl="1"/>
            <a:r>
              <a:rPr lang="en-US" sz="2000" dirty="0"/>
              <a:t>Lot of virtual hardware sizes to choose from and run tests on</a:t>
            </a:r>
          </a:p>
          <a:p>
            <a:pPr lvl="1"/>
            <a:r>
              <a:rPr lang="en-US" sz="2000" dirty="0"/>
              <a:t>Sdkperf needs to be run across several hosts spreading traffic across several topics as single host setups can not push enough data through broker alone.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CCC8E-83E3-451B-9173-F15304851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028" y="1006955"/>
            <a:ext cx="3997135" cy="484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2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980695"/>
            <a:ext cx="5382017" cy="4983877"/>
          </a:xfrm>
        </p:spPr>
        <p:txBody>
          <a:bodyPr/>
          <a:lstStyle/>
          <a:p>
            <a:r>
              <a:rPr lang="en-US" dirty="0"/>
              <a:t>Use a combination of: </a:t>
            </a:r>
          </a:p>
          <a:p>
            <a:pPr lvl="1"/>
            <a:r>
              <a:rPr lang="en-US" dirty="0"/>
              <a:t>Timed </a:t>
            </a:r>
            <a:r>
              <a:rPr lang="en-US" dirty="0" err="1"/>
              <a:t>sdkperf</a:t>
            </a:r>
            <a:r>
              <a:rPr lang="en-US" dirty="0"/>
              <a:t> publisher and consumer scripts</a:t>
            </a:r>
          </a:p>
          <a:p>
            <a:pPr lvl="1"/>
            <a:r>
              <a:rPr lang="en-US" dirty="0"/>
              <a:t>Ansible playbook with asynchronous actions and polling to spin up </a:t>
            </a:r>
            <a:r>
              <a:rPr lang="en-US" dirty="0" err="1"/>
              <a:t>sdkperf</a:t>
            </a:r>
            <a:r>
              <a:rPr lang="en-US" dirty="0"/>
              <a:t> instances across several performance testing hosts and collect results</a:t>
            </a:r>
          </a:p>
          <a:p>
            <a:pPr lvl="1"/>
            <a:r>
              <a:rPr lang="en-US" dirty="0"/>
              <a:t>Some bash, grep, awk, sed script magic to collect and calculate results and analyze for common bottlenecks.</a:t>
            </a:r>
          </a:p>
          <a:p>
            <a:pPr lvl="1"/>
            <a:r>
              <a:rPr lang="en-US" dirty="0"/>
              <a:t>Wrapper scripts to make it re-usable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Solution: Automation via Shell Scripts and Ansible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6F520-D295-4EAB-BA9F-E0D1D5C18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454" y="847621"/>
            <a:ext cx="6603546" cy="51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5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Overview of test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39264-32C5-42E4-8793-24B8D0C3E22D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1116384"/>
            <a:ext cx="989902" cy="528507"/>
          </a:xfrm>
          <a:prstGeom prst="rect">
            <a:avLst/>
          </a:prstGeom>
          <a:solidFill>
            <a:srgbClr val="59595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Pubhost1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1C7C4-069B-4D8A-A09E-6C00D5534D33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1679096"/>
            <a:ext cx="989902" cy="528507"/>
          </a:xfrm>
          <a:prstGeom prst="rect">
            <a:avLst/>
          </a:prstGeom>
          <a:solidFill>
            <a:srgbClr val="73737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Subhost1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75EDF8-B334-48E7-94C0-1AC1B46D94B0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2241808"/>
            <a:ext cx="989902" cy="528507"/>
          </a:xfrm>
          <a:prstGeom prst="rect">
            <a:avLst/>
          </a:prstGeom>
          <a:solidFill>
            <a:srgbClr val="59595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Pubhost2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2C74E3-F0DE-4616-ACE3-703C182A0DE2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2804520"/>
            <a:ext cx="989902" cy="528507"/>
          </a:xfrm>
          <a:prstGeom prst="rect">
            <a:avLst/>
          </a:prstGeom>
          <a:solidFill>
            <a:srgbClr val="73737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Subhost2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430E7-C973-4492-A424-71F0B14CAB77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3367232"/>
            <a:ext cx="989902" cy="528507"/>
          </a:xfrm>
          <a:prstGeom prst="rect">
            <a:avLst/>
          </a:prstGeom>
          <a:solidFill>
            <a:srgbClr val="59595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Pubhost3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1D5DC5-13F8-4463-97CE-439621FCEE18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3929944"/>
            <a:ext cx="989902" cy="528507"/>
          </a:xfrm>
          <a:prstGeom prst="rect">
            <a:avLst/>
          </a:prstGeom>
          <a:solidFill>
            <a:srgbClr val="73737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Subhost3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1ACEE-BF42-4346-B3F8-1CB27AC3CBE2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4492656"/>
            <a:ext cx="989902" cy="528507"/>
          </a:xfrm>
          <a:prstGeom prst="rect">
            <a:avLst/>
          </a:prstGeom>
          <a:solidFill>
            <a:srgbClr val="59595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Pubhost4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926F3-4567-4E63-B70C-645D855FF2F4}"/>
              </a:ext>
            </a:extLst>
          </p:cNvPr>
          <p:cNvSpPr>
            <a:spLocks noChangeAspect="1"/>
          </p:cNvSpPr>
          <p:nvPr/>
        </p:nvSpPr>
        <p:spPr bwMode="auto">
          <a:xfrm>
            <a:off x="7751428" y="5055368"/>
            <a:ext cx="989902" cy="528507"/>
          </a:xfrm>
          <a:prstGeom prst="rect">
            <a:avLst/>
          </a:prstGeom>
          <a:solidFill>
            <a:srgbClr val="73737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Subhost4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5EA4D9-A637-4279-8A2D-1942AC56CA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23402" y="2047152"/>
            <a:ext cx="2571750" cy="257175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26B64D-2FC4-4AD2-9777-6D08386D071C}"/>
              </a:ext>
            </a:extLst>
          </p:cNvPr>
          <p:cNvCxnSpPr>
            <a:stCxn id="9" idx="3"/>
            <a:endCxn id="17" idx="1"/>
          </p:cNvCxnSpPr>
          <p:nvPr/>
        </p:nvCxnSpPr>
        <p:spPr bwMode="auto">
          <a:xfrm>
            <a:off x="8741330" y="1380638"/>
            <a:ext cx="582072" cy="1952389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087733-09EA-4743-88F7-6005F36CAFEB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>
            <a:off x="8741330" y="1380638"/>
            <a:ext cx="1050380" cy="797711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0F1F2D-E6FC-475E-9D45-85783857E59C}"/>
              </a:ext>
            </a:extLst>
          </p:cNvPr>
          <p:cNvCxnSpPr>
            <a:cxnSpLocks/>
            <a:endCxn id="10" idx="3"/>
          </p:cNvCxnSpPr>
          <p:nvPr/>
        </p:nvCxnSpPr>
        <p:spPr bwMode="auto">
          <a:xfrm flipH="1" flipV="1">
            <a:off x="8741330" y="1943350"/>
            <a:ext cx="984562" cy="298458"/>
          </a:xfrm>
          <a:prstGeom prst="straightConnector1">
            <a:avLst/>
          </a:prstGeom>
          <a:noFill/>
          <a:ln w="9525" cap="flat" cmpd="sng" algn="ctr">
            <a:solidFill>
              <a:srgbClr val="73737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D2DC0A-2D09-4A70-9EFC-0679D953AC21}"/>
              </a:ext>
            </a:extLst>
          </p:cNvPr>
          <p:cNvCxnSpPr>
            <a:cxnSpLocks/>
            <a:stCxn id="11" idx="3"/>
          </p:cNvCxnSpPr>
          <p:nvPr/>
        </p:nvCxnSpPr>
        <p:spPr bwMode="auto">
          <a:xfrm>
            <a:off x="8741330" y="2506062"/>
            <a:ext cx="582072" cy="298458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FFC683-B9B2-4664-BA01-63ECC3EFD43A}"/>
              </a:ext>
            </a:extLst>
          </p:cNvPr>
          <p:cNvCxnSpPr>
            <a:cxnSpLocks/>
            <a:endCxn id="12" idx="3"/>
          </p:cNvCxnSpPr>
          <p:nvPr/>
        </p:nvCxnSpPr>
        <p:spPr bwMode="auto">
          <a:xfrm flipH="1">
            <a:off x="8741330" y="2928056"/>
            <a:ext cx="525190" cy="140718"/>
          </a:xfrm>
          <a:prstGeom prst="straightConnector1">
            <a:avLst/>
          </a:prstGeom>
          <a:noFill/>
          <a:ln w="9525" cap="flat" cmpd="sng" algn="ctr">
            <a:solidFill>
              <a:srgbClr val="73737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05DE51-9DB1-4690-A043-AF431080F805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8741330" y="3631486"/>
            <a:ext cx="582072" cy="127714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BCF2C8-E72D-455F-9211-20DB8BBA0561}"/>
              </a:ext>
            </a:extLst>
          </p:cNvPr>
          <p:cNvCxnSpPr>
            <a:cxnSpLocks/>
            <a:endCxn id="14" idx="3"/>
          </p:cNvCxnSpPr>
          <p:nvPr/>
        </p:nvCxnSpPr>
        <p:spPr bwMode="auto">
          <a:xfrm flipH="1">
            <a:off x="8741330" y="3895739"/>
            <a:ext cx="582074" cy="298459"/>
          </a:xfrm>
          <a:prstGeom prst="straightConnector1">
            <a:avLst/>
          </a:prstGeom>
          <a:noFill/>
          <a:ln w="9525" cap="flat" cmpd="sng" algn="ctr">
            <a:solidFill>
              <a:srgbClr val="73737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D42C60-9B1E-42CE-BFD3-2AFF7319B4C9}"/>
              </a:ext>
            </a:extLst>
          </p:cNvPr>
          <p:cNvCxnSpPr>
            <a:cxnSpLocks/>
            <a:stCxn id="15" idx="3"/>
          </p:cNvCxnSpPr>
          <p:nvPr/>
        </p:nvCxnSpPr>
        <p:spPr bwMode="auto">
          <a:xfrm flipV="1">
            <a:off x="8741330" y="4458452"/>
            <a:ext cx="1050380" cy="298458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F1979B8-BF5E-4715-8950-1EFFA4BA131F}"/>
              </a:ext>
            </a:extLst>
          </p:cNvPr>
          <p:cNvCxnSpPr>
            <a:cxnSpLocks/>
            <a:endCxn id="16" idx="3"/>
          </p:cNvCxnSpPr>
          <p:nvPr/>
        </p:nvCxnSpPr>
        <p:spPr bwMode="auto">
          <a:xfrm flipH="1">
            <a:off x="8741330" y="4560135"/>
            <a:ext cx="1107264" cy="759487"/>
          </a:xfrm>
          <a:prstGeom prst="straightConnector1">
            <a:avLst/>
          </a:prstGeom>
          <a:noFill/>
          <a:ln w="9525" cap="flat" cmpd="sng" algn="ctr">
            <a:solidFill>
              <a:srgbClr val="737373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9FCF4D6-D521-4A93-8FB9-FAF28401BE90}"/>
              </a:ext>
            </a:extLst>
          </p:cNvPr>
          <p:cNvSpPr>
            <a:spLocks noChangeAspect="1"/>
          </p:cNvSpPr>
          <p:nvPr/>
        </p:nvSpPr>
        <p:spPr bwMode="auto">
          <a:xfrm>
            <a:off x="5012691" y="1110920"/>
            <a:ext cx="989902" cy="528507"/>
          </a:xfrm>
          <a:prstGeom prst="rect">
            <a:avLst/>
          </a:prstGeom>
          <a:solidFill>
            <a:srgbClr val="59595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Ansible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Controller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Host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38B2622-B1BB-46F0-90B2-53D09CEC16B7}"/>
              </a:ext>
            </a:extLst>
          </p:cNvPr>
          <p:cNvCxnSpPr>
            <a:cxnSpLocks/>
            <a:stCxn id="51" idx="3"/>
            <a:endCxn id="9" idx="1"/>
          </p:cNvCxnSpPr>
          <p:nvPr/>
        </p:nvCxnSpPr>
        <p:spPr bwMode="auto">
          <a:xfrm>
            <a:off x="6002593" y="1375174"/>
            <a:ext cx="1748835" cy="5464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3DD4F2D-92EE-4226-89C7-D42B15D11486}"/>
              </a:ext>
            </a:extLst>
          </p:cNvPr>
          <p:cNvCxnSpPr>
            <a:cxnSpLocks/>
            <a:stCxn id="51" idx="3"/>
            <a:endCxn id="10" idx="1"/>
          </p:cNvCxnSpPr>
          <p:nvPr/>
        </p:nvCxnSpPr>
        <p:spPr bwMode="auto">
          <a:xfrm>
            <a:off x="6002593" y="1375174"/>
            <a:ext cx="1748835" cy="568176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2AD8055-109C-4F8A-8049-9AD321D07156}"/>
              </a:ext>
            </a:extLst>
          </p:cNvPr>
          <p:cNvCxnSpPr>
            <a:cxnSpLocks/>
            <a:stCxn id="51" idx="3"/>
            <a:endCxn id="11" idx="1"/>
          </p:cNvCxnSpPr>
          <p:nvPr/>
        </p:nvCxnSpPr>
        <p:spPr bwMode="auto">
          <a:xfrm>
            <a:off x="6002593" y="1375174"/>
            <a:ext cx="1748835" cy="1130888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A41C725-AE53-4B88-966A-081484095517}"/>
              </a:ext>
            </a:extLst>
          </p:cNvPr>
          <p:cNvCxnSpPr>
            <a:cxnSpLocks/>
            <a:stCxn id="51" idx="3"/>
            <a:endCxn id="12" idx="1"/>
          </p:cNvCxnSpPr>
          <p:nvPr/>
        </p:nvCxnSpPr>
        <p:spPr bwMode="auto">
          <a:xfrm>
            <a:off x="6002593" y="1375174"/>
            <a:ext cx="1748835" cy="1693600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0DF2208-C997-4B29-A8B2-8525124FC86F}"/>
              </a:ext>
            </a:extLst>
          </p:cNvPr>
          <p:cNvCxnSpPr>
            <a:cxnSpLocks/>
            <a:stCxn id="51" idx="3"/>
            <a:endCxn id="13" idx="1"/>
          </p:cNvCxnSpPr>
          <p:nvPr/>
        </p:nvCxnSpPr>
        <p:spPr bwMode="auto">
          <a:xfrm>
            <a:off x="6002593" y="1375174"/>
            <a:ext cx="1748835" cy="2256312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36B6137-5CD6-4CBE-B1A9-65E7E4655006}"/>
              </a:ext>
            </a:extLst>
          </p:cNvPr>
          <p:cNvCxnSpPr>
            <a:cxnSpLocks/>
            <a:stCxn id="51" idx="3"/>
            <a:endCxn id="14" idx="1"/>
          </p:cNvCxnSpPr>
          <p:nvPr/>
        </p:nvCxnSpPr>
        <p:spPr bwMode="auto">
          <a:xfrm>
            <a:off x="6002593" y="1375174"/>
            <a:ext cx="1748835" cy="2819024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B1774D2-3392-48FB-A74A-EE872A398019}"/>
              </a:ext>
            </a:extLst>
          </p:cNvPr>
          <p:cNvCxnSpPr>
            <a:cxnSpLocks/>
            <a:stCxn id="51" idx="3"/>
            <a:endCxn id="15" idx="1"/>
          </p:cNvCxnSpPr>
          <p:nvPr/>
        </p:nvCxnSpPr>
        <p:spPr bwMode="auto">
          <a:xfrm>
            <a:off x="6002593" y="1375174"/>
            <a:ext cx="1748835" cy="3381736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0200F71-B81B-4C13-BC45-581C7BC705F2}"/>
              </a:ext>
            </a:extLst>
          </p:cNvPr>
          <p:cNvCxnSpPr>
            <a:cxnSpLocks/>
            <a:stCxn id="51" idx="3"/>
            <a:endCxn id="16" idx="1"/>
          </p:cNvCxnSpPr>
          <p:nvPr/>
        </p:nvCxnSpPr>
        <p:spPr bwMode="auto">
          <a:xfrm>
            <a:off x="6002593" y="1375174"/>
            <a:ext cx="1748835" cy="3944448"/>
          </a:xfrm>
          <a:prstGeom prst="straightConnector1">
            <a:avLst/>
          </a:prstGeom>
          <a:noFill/>
          <a:ln w="9525" cap="flat" cmpd="sng" algn="ctr">
            <a:solidFill>
              <a:srgbClr val="59595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3A6C3A8C-4E80-4AD6-8CF2-8DF890F8FC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4947" y="1032305"/>
            <a:ext cx="5611053" cy="455157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Ansible controller host runs the main scripts and ansible playbook, which:</a:t>
            </a:r>
          </a:p>
          <a:p>
            <a:pPr lvl="1"/>
            <a:r>
              <a:rPr lang="en-US" dirty="0"/>
              <a:t>Pushes the Sdkperf files and scripts to the publisher and subscriber hosts</a:t>
            </a:r>
          </a:p>
          <a:p>
            <a:pPr lvl="1"/>
            <a:r>
              <a:rPr lang="en-US" dirty="0"/>
              <a:t>Starts the Sdkperf consumers and publishers in </a:t>
            </a:r>
            <a:r>
              <a:rPr lang="en-US" dirty="0" err="1"/>
              <a:t>async</a:t>
            </a:r>
            <a:r>
              <a:rPr lang="en-US" dirty="0"/>
              <a:t> jobs with a timer</a:t>
            </a:r>
          </a:p>
          <a:p>
            <a:pPr lvl="1"/>
            <a:r>
              <a:rPr lang="en-US" dirty="0"/>
              <a:t>Collects the results from all hosts and calculates the overall message throughput </a:t>
            </a:r>
          </a:p>
          <a:p>
            <a:pPr lvl="1"/>
            <a:r>
              <a:rPr lang="en-US" dirty="0"/>
              <a:t>Decides whether test is success or fail based on target throughput number</a:t>
            </a:r>
          </a:p>
        </p:txBody>
      </p:sp>
    </p:spTree>
    <p:extLst>
      <p:ext uri="{BB962C8B-B14F-4D97-AF65-F5344CB8AC3E}">
        <p14:creationId xmlns:p14="http://schemas.microsoft.com/office/powerpoint/2010/main" val="427558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59356" y="1227284"/>
            <a:ext cx="10733520" cy="4551570"/>
          </a:xfrm>
        </p:spPr>
        <p:txBody>
          <a:bodyPr/>
          <a:lstStyle/>
          <a:p>
            <a:r>
              <a:rPr lang="en-US" sz="1400" b="1" dirty="0"/>
              <a:t>1) Benchmarking: Fixed-target format  (benchmarking-tests/*.sh):</a:t>
            </a:r>
          </a:p>
          <a:p>
            <a:r>
              <a:rPr lang="en-US" sz="1400" dirty="0"/>
              <a:t>      msg_size : fanout : overall_consumer_rate : parallel_pub_hosts : msg_type</a:t>
            </a:r>
          </a:p>
          <a:p>
            <a:pPr lvl="1"/>
            <a:r>
              <a:rPr lang="en-US" sz="1100" dirty="0"/>
              <a:t>overall_consumer_rate already includes fanout; runner divides by (hosts × fanout) to get per-pub rate</a:t>
            </a:r>
          </a:p>
          <a:p>
            <a:r>
              <a:rPr lang="en-US" sz="1400" b="1" dirty="0"/>
              <a:t>2) Discovery format  (discovery-tests/*.sh  /  custom-sets/*.sh):</a:t>
            </a:r>
          </a:p>
          <a:p>
            <a:r>
              <a:rPr lang="en-US" sz="1400" dirty="0"/>
              <a:t>      msg_size : fanout : parallel_pub_hosts : msg_type</a:t>
            </a:r>
          </a:p>
          <a:p>
            <a:pPr lvl="1"/>
            <a:r>
              <a:rPr lang="en-US" sz="1100" dirty="0"/>
              <a:t>No rate needed — run-binsearch-testset.sh finds the maximum automatically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Test set script formats</a:t>
            </a:r>
          </a:p>
        </p:txBody>
      </p:sp>
    </p:spTree>
    <p:extLst>
      <p:ext uri="{BB962C8B-B14F-4D97-AF65-F5344CB8AC3E}">
        <p14:creationId xmlns:p14="http://schemas.microsoft.com/office/powerpoint/2010/main" val="1372956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When you don’t know what to expect: </a:t>
            </a:r>
            <a:br>
              <a:rPr lang="en-US" dirty="0"/>
            </a:br>
            <a:r>
              <a:rPr lang="en-US" dirty="0"/>
              <a:t>run-binsearch-testset.sh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1197000"/>
            <a:ext cx="11680230" cy="4767572"/>
          </a:xfrm>
        </p:spPr>
        <p:txBody>
          <a:bodyPr/>
          <a:lstStyle/>
          <a:p>
            <a:r>
              <a:rPr lang="en-US" sz="1400" dirty="0"/>
              <a:t>Discovery mode: automatically finds the maximum stable throughput for each test scenario.</a:t>
            </a:r>
          </a:p>
          <a:p>
            <a:r>
              <a:rPr lang="en-US" sz="1400" b="1" dirty="0"/>
              <a:t>Phase 1 — Exponential probe:</a:t>
            </a:r>
          </a:p>
          <a:p>
            <a:pPr lvl="1"/>
            <a:r>
              <a:rPr lang="en-US" sz="1100" dirty="0"/>
              <a:t>Starts at upper_bound / 1024 and doubles the rate each iteration</a:t>
            </a:r>
          </a:p>
          <a:p>
            <a:pPr lvl="1"/>
            <a:r>
              <a:rPr lang="en-US" sz="1100" dirty="0"/>
              <a:t>Stops when the broker fails to sustain the target rate (first bracket found)</a:t>
            </a:r>
          </a:p>
          <a:p>
            <a:r>
              <a:rPr lang="en-US" sz="1400" b="1" dirty="0"/>
              <a:t>Phase 2 — Binary search:</a:t>
            </a:r>
          </a:p>
          <a:p>
            <a:pPr lvl="1"/>
            <a:r>
              <a:rPr lang="en-US" sz="1100" dirty="0"/>
              <a:t>Bisects the passing/failing bracket until precision reaches ±1%</a:t>
            </a:r>
          </a:p>
          <a:p>
            <a:pPr lvl="1"/>
            <a:r>
              <a:rPr lang="en-US" sz="1100" dirty="0"/>
              <a:t>Default: up to 10 search iterations, 60 s run-length per step</a:t>
            </a:r>
          </a:p>
          <a:p>
            <a:r>
              <a:rPr lang="en-US" sz="1400" b="1" dirty="0"/>
              <a:t>Configurable upper bounds (export before calling the runner):</a:t>
            </a:r>
          </a:p>
          <a:p>
            <a:pPr lvl="1"/>
            <a:r>
              <a:rPr lang="en-US" sz="1100" dirty="0"/>
              <a:t>search_upper_bound_direct        (default 5,000,000 msgs/s)</a:t>
            </a:r>
          </a:p>
          <a:p>
            <a:pPr lvl="1"/>
            <a:r>
              <a:rPr lang="en-US" sz="1100" dirty="0"/>
              <a:t>search_upper_bound_nonpersistent (default 2,000,000 msgs/s)</a:t>
            </a:r>
          </a:p>
          <a:p>
            <a:pPr lvl="1"/>
            <a:r>
              <a:rPr lang="en-US" sz="1100" dirty="0"/>
              <a:t>search_upper_bound_persistent    (default 1,000,000 msgs/s)</a:t>
            </a:r>
          </a:p>
          <a:p>
            <a:r>
              <a:rPr lang="en-US" sz="1400" dirty="0"/>
              <a:t>Calls analyse-result-set.sh automatically on completion.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analyse-result-set.sh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1125000"/>
            <a:ext cx="11680230" cy="4839572"/>
          </a:xfrm>
        </p:spPr>
        <p:txBody>
          <a:bodyPr/>
          <a:lstStyle/>
          <a:p>
            <a:r>
              <a:rPr lang="en-US" sz="1600" dirty="0"/>
              <a:t>Parses result files after each test run and identifies likely bottlenecks.</a:t>
            </a:r>
          </a:p>
          <a:p>
            <a:r>
              <a:rPr lang="en-US" sz="1600" b="1" dirty="0"/>
              <a:t>Usage:</a:t>
            </a:r>
          </a:p>
          <a:p>
            <a:pPr lvl="1"/>
            <a:r>
              <a:rPr lang="en-US" sz="1200" dirty="0"/>
              <a:t>engine/analyse-result-set.sh 1k_mixed          (by shorthand)</a:t>
            </a:r>
          </a:p>
          <a:p>
            <a:pPr lvl="1"/>
            <a:r>
              <a:rPr lang="en-US" sz="1200" dirty="0"/>
              <a:t>engine/analyse-result-set.sh results/foo.txt   (by path)</a:t>
            </a:r>
          </a:p>
          <a:p>
            <a:pPr lvl="1"/>
            <a:r>
              <a:rPr lang="en-US" sz="1200" dirty="0"/>
              <a:t>engine/analyse-result-set.sh results/my-run/   (all files in directory)</a:t>
            </a:r>
          </a:p>
          <a:p>
            <a:pPr lvl="1"/>
            <a:r>
              <a:rPr lang="en-US" sz="1200" dirty="0"/>
              <a:t>engine/analyse-result-set.sh                   (scan entire results/ tree)</a:t>
            </a:r>
          </a:p>
          <a:p>
            <a:r>
              <a:rPr lang="en-US" sz="1600" b="1" dirty="0"/>
              <a:t>Diagnostic checks performed:</a:t>
            </a:r>
          </a:p>
          <a:p>
            <a:pPr lvl="1"/>
            <a:r>
              <a:rPr lang="en-US" sz="1200" dirty="0"/>
              <a:t>CPU saturation — clock errors indicate broker is CPU-bound</a:t>
            </a:r>
          </a:p>
          <a:p>
            <a:pPr lvl="1"/>
            <a:r>
              <a:rPr lang="en-US" sz="1200" dirty="0"/>
              <a:t>Publisher bottleneck — flat pub rate means publishers are the limit</a:t>
            </a:r>
          </a:p>
          <a:p>
            <a:pPr lvl="1"/>
            <a:r>
              <a:rPr lang="en-US" sz="1200" dirty="0"/>
              <a:t>WAN/NIC bandwidth — checks whether consumer or producer NIC is the ceiling</a:t>
            </a:r>
          </a:p>
          <a:p>
            <a:pPr lvl="1"/>
            <a:r>
              <a:rPr lang="en-US" sz="1200" dirty="0"/>
              <a:t>Partial host contribution — detects when not all pub hosts are contributing</a:t>
            </a:r>
          </a:p>
          <a:p>
            <a:pPr lvl="1"/>
            <a:r>
              <a:rPr lang="en-US" sz="1200" dirty="0"/>
              <a:t>IOPS constraints — persistent tests hitting EBS / NVMe write limits</a:t>
            </a:r>
          </a:p>
          <a:p>
            <a:pPr lvl="1"/>
            <a:r>
              <a:rPr lang="en-US" sz="1200" dirty="0"/>
              <a:t>Fanout delivery gaps — consumer totals don't match expected fanout</a:t>
            </a:r>
          </a:p>
          <a:p>
            <a:r>
              <a:rPr lang="en-US" sz="1600" dirty="0"/>
              <a:t>Both runner scripts (run-testset.sh and run-binsearch-testset.sh) call it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The Framework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727FA-F30F-448A-A199-CBDB0E8A3339}"/>
              </a:ext>
            </a:extLst>
          </p:cNvPr>
          <p:cNvSpPr>
            <a:spLocks/>
          </p:cNvSpPr>
          <p:nvPr/>
        </p:nvSpPr>
        <p:spPr bwMode="auto">
          <a:xfrm>
            <a:off x="489527" y="1269000"/>
            <a:ext cx="6585527" cy="4812146"/>
          </a:xfrm>
          <a:prstGeom prst="rect">
            <a:avLst/>
          </a:prstGeom>
          <a:solidFill>
            <a:srgbClr val="59595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Ansible Controller Host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DB5496-68A0-4A39-AC70-39333A8FB3F4}"/>
              </a:ext>
            </a:extLst>
          </p:cNvPr>
          <p:cNvSpPr>
            <a:spLocks/>
          </p:cNvSpPr>
          <p:nvPr/>
        </p:nvSpPr>
        <p:spPr bwMode="auto">
          <a:xfrm>
            <a:off x="7352145" y="1269000"/>
            <a:ext cx="4668981" cy="2336801"/>
          </a:xfrm>
          <a:prstGeom prst="rect">
            <a:avLst/>
          </a:prstGeom>
          <a:solidFill>
            <a:srgbClr val="59595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Subhost</a:t>
            </a:r>
            <a:endParaRPr kumimoji="0" lang="en-GB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E2231F-3A4D-4F59-B14F-014705378ED7}"/>
              </a:ext>
            </a:extLst>
          </p:cNvPr>
          <p:cNvSpPr>
            <a:spLocks/>
          </p:cNvSpPr>
          <p:nvPr/>
        </p:nvSpPr>
        <p:spPr bwMode="auto">
          <a:xfrm>
            <a:off x="7352145" y="3744345"/>
            <a:ext cx="4668981" cy="2336801"/>
          </a:xfrm>
          <a:prstGeom prst="rect">
            <a:avLst/>
          </a:prstGeom>
          <a:solidFill>
            <a:srgbClr val="59595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Pubhost</a:t>
            </a:r>
            <a:endParaRPr kumimoji="0" lang="en-GB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E038AB-43EE-4561-83E2-842837A85BF6}"/>
              </a:ext>
            </a:extLst>
          </p:cNvPr>
          <p:cNvSpPr/>
          <p:nvPr/>
        </p:nvSpPr>
        <p:spPr bwMode="auto">
          <a:xfrm>
            <a:off x="581023" y="1523000"/>
            <a:ext cx="2328432" cy="2289858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b="1" dirty="0"/>
              <a:t>start-benchmarking-test.sh</a:t>
            </a:r>
          </a:p>
          <a:p>
            <a:r>
              <a:rPr lang="en-US" sz="800" dirty="0"/>
              <a:t>Interactive menu for pre-defined benchmarking testsets</a:t>
            </a:r>
          </a:p>
          <a:p>
            <a:endParaRPr lang="en-US" sz="800" dirty="0"/>
          </a:p>
          <a:p>
            <a:r>
              <a:rPr lang="en-US" sz="900" b="1" dirty="0"/>
              <a:t>start-standard-discovery-test.sh</a:t>
            </a:r>
          </a:p>
          <a:p>
            <a:r>
              <a:rPr lang="en-US" sz="900" b="1" dirty="0"/>
              <a:t>start-custom-discovery-test.sh</a:t>
            </a:r>
          </a:p>
          <a:p>
            <a:r>
              <a:rPr lang="en-US" sz="800" dirty="0"/>
              <a:t>Discovery mode entry points; wizard builds custom testsets</a:t>
            </a:r>
          </a:p>
          <a:p>
            <a:endParaRPr lang="en-US" sz="800" dirty="0"/>
          </a:p>
          <a:p>
            <a:r>
              <a:rPr lang="en-US" sz="800" dirty="0"/>
              <a:t>custom-sets/*.sh  |  benchmarking-tests/*.sh</a:t>
            </a:r>
          </a:p>
          <a:p>
            <a:r>
              <a:rPr lang="en-US" sz="800" dirty="0"/>
              <a:t>Define test scenario arrays directly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953AFA-AFC2-43C1-9C7B-4BF6B3FF9823}"/>
              </a:ext>
            </a:extLst>
          </p:cNvPr>
          <p:cNvSpPr/>
          <p:nvPr/>
        </p:nvSpPr>
        <p:spPr bwMode="auto">
          <a:xfrm>
            <a:off x="581023" y="4372350"/>
            <a:ext cx="2328432" cy="1514261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b="1" dirty="0"/>
              <a:t>engine/run-testset.sh</a:t>
            </a:r>
          </a:p>
          <a:p>
            <a:r>
              <a:rPr lang="en-US" sz="800" dirty="0"/>
              <a:t>Fixed-target mode: validates each scenario hits a pre-defined rate within 5% margin</a:t>
            </a:r>
          </a:p>
          <a:p>
            <a:endParaRPr lang="en-US" sz="800" dirty="0"/>
          </a:p>
          <a:p>
            <a:r>
              <a:rPr lang="en-US" sz="900" b="1" dirty="0"/>
              <a:t>engine/run-binsearch-testset.sh</a:t>
            </a:r>
          </a:p>
          <a:p>
            <a:r>
              <a:rPr lang="en-US" sz="800" dirty="0"/>
              <a:t>Discovery mode: exponential probe + binary search to find max stable throughput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6F13EB-F66D-41ED-AB53-AF816C4DA94D}"/>
              </a:ext>
            </a:extLst>
          </p:cNvPr>
          <p:cNvSpPr/>
          <p:nvPr/>
        </p:nvSpPr>
        <p:spPr bwMode="auto">
          <a:xfrm>
            <a:off x="3464070" y="4622010"/>
            <a:ext cx="2236067" cy="1191095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engine/run-test.sh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Wrapper script around ansible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p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laybook: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Calls ansible playbook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results from all hosts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Calculates overall sum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4430CFC-12CC-40D3-99ED-04FE997CEEE0}"/>
              </a:ext>
            </a:extLst>
          </p:cNvPr>
          <p:cNvSpPr/>
          <p:nvPr/>
        </p:nvSpPr>
        <p:spPr bwMode="auto">
          <a:xfrm>
            <a:off x="1407894" y="3826822"/>
            <a:ext cx="674689" cy="545528"/>
          </a:xfrm>
          <a:prstGeom prst="downArrow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7B7C502-4F73-40AD-9059-0096BA5E9FA6}"/>
              </a:ext>
            </a:extLst>
          </p:cNvPr>
          <p:cNvSpPr/>
          <p:nvPr/>
        </p:nvSpPr>
        <p:spPr bwMode="auto">
          <a:xfrm>
            <a:off x="2909022" y="4760026"/>
            <a:ext cx="555047" cy="687808"/>
          </a:xfrm>
          <a:prstGeom prst="rightArrow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D5A58F-917D-466F-A80E-9AEBC47BE799}"/>
              </a:ext>
            </a:extLst>
          </p:cNvPr>
          <p:cNvSpPr/>
          <p:nvPr/>
        </p:nvSpPr>
        <p:spPr bwMode="auto">
          <a:xfrm>
            <a:off x="3453749" y="1360531"/>
            <a:ext cx="3233592" cy="2632375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engine/start-</a:t>
            </a:r>
            <a:r>
              <a:rPr lang="en-GB" sz="1050" b="1" dirty="0" err="1">
                <a:latin typeface="Arial" charset="0"/>
              </a:rPr>
              <a:t>sdk.yaml</a:t>
            </a:r>
            <a:endParaRPr lang="en-GB" sz="1050" b="1" dirty="0"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Ansible playbook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- Pushes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</a:t>
            </a:r>
            <a:r>
              <a:rPr lang="en-GB" sz="1050" b="1" dirty="0" err="1">
                <a:latin typeface="Arial" charset="0"/>
              </a:rPr>
              <a:t>dkperf</a:t>
            </a:r>
            <a:r>
              <a:rPr lang="en-GB" sz="1050" b="1" dirty="0">
                <a:latin typeface="Arial" charset="0"/>
              </a:rPr>
              <a:t> and scripts to pub/sub hosts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the </a:t>
            </a:r>
            <a:r>
              <a:rPr lang="en-GB" sz="1050" b="1" dirty="0" err="1">
                <a:latin typeface="Arial" charset="0"/>
              </a:rPr>
              <a:t>sdk_consumers</a:t>
            </a:r>
            <a:r>
              <a:rPr lang="en-GB" sz="1050" b="1" dirty="0">
                <a:latin typeface="Arial" charset="0"/>
              </a:rPr>
              <a:t> across all </a:t>
            </a:r>
            <a:r>
              <a:rPr lang="en-GB" sz="1050" b="1" dirty="0" err="1">
                <a:latin typeface="Arial" charset="0"/>
              </a:rPr>
              <a:t>subhosts</a:t>
            </a:r>
            <a:r>
              <a:rPr lang="en-GB" sz="1050" b="1" dirty="0">
                <a:latin typeface="Arial" charset="0"/>
              </a:rPr>
              <a:t>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with a timer in an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async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the </a:t>
            </a:r>
            <a:r>
              <a:rPr lang="en-GB" sz="1050" b="1" dirty="0" err="1">
                <a:latin typeface="Arial" charset="0"/>
              </a:rPr>
              <a:t>sdk_publishers</a:t>
            </a:r>
            <a:r>
              <a:rPr lang="en-GB" sz="1050" b="1" dirty="0">
                <a:latin typeface="Arial" charset="0"/>
              </a:rPr>
              <a:t> across all </a:t>
            </a:r>
            <a:r>
              <a:rPr lang="en-GB" sz="1050" b="1" dirty="0" err="1">
                <a:latin typeface="Arial" charset="0"/>
              </a:rPr>
              <a:t>pubhosts</a:t>
            </a:r>
            <a:endParaRPr lang="en-GB" sz="1050" b="1" dirty="0"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with a timer in an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async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(each host get a portion of the target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 rate assigned = overall / no of hosts)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output of all publisher and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consumers across all hosts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5F2FE3-7B70-41DA-B445-9C4C47DE5D60}"/>
              </a:ext>
            </a:extLst>
          </p:cNvPr>
          <p:cNvSpPr/>
          <p:nvPr/>
        </p:nvSpPr>
        <p:spPr bwMode="auto">
          <a:xfrm>
            <a:off x="7450568" y="1523000"/>
            <a:ext cx="4390450" cy="1352678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sdkconsumers.sh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number of requested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consumers and pins them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cores (no of publishers * by fanout) in background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Waits for timer to expire or Control-C, which is then caught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gracefully kill the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sdkperf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jobs and allow for their output to be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written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results for each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job and calculates sum 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F8041B-A631-425A-BFDC-81F329C544A8}"/>
              </a:ext>
            </a:extLst>
          </p:cNvPr>
          <p:cNvSpPr/>
          <p:nvPr/>
        </p:nvSpPr>
        <p:spPr bwMode="auto">
          <a:xfrm>
            <a:off x="7450568" y="4067537"/>
            <a:ext cx="4390450" cy="1514261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sdkpublisher.sh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Starts number of requested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publishers and pins them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cores in background (each with a portion of the host target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msg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rate = host rate / no of publishers)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Waits for timer to expire or Control-C, which is then caught to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  gracefully kill the </a:t>
            </a:r>
            <a:r>
              <a:rPr kumimoji="0" lang="en-GB" sz="1050" b="1" i="0" u="none" strike="noStrike" cap="none" normalizeH="0" baseline="0" dirty="0" err="1">
                <a:ln>
                  <a:noFill/>
                </a:ln>
                <a:effectLst/>
                <a:latin typeface="Arial" charset="0"/>
              </a:rPr>
              <a:t>sdkperf</a:t>
            </a:r>
            <a:r>
              <a:rPr kumimoji="0" lang="en-GB" sz="105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 jobs and allow for their output to be 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   written</a:t>
            </a: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r>
              <a:rPr lang="en-GB" sz="1050" b="1" dirty="0">
                <a:latin typeface="Arial" charset="0"/>
              </a:rPr>
              <a:t>- Collects the results for each </a:t>
            </a:r>
            <a:r>
              <a:rPr lang="en-GB" sz="1050" b="1" dirty="0" err="1">
                <a:latin typeface="Arial" charset="0"/>
              </a:rPr>
              <a:t>sdkperf</a:t>
            </a:r>
            <a:r>
              <a:rPr lang="en-GB" sz="1050" b="1" dirty="0">
                <a:latin typeface="Arial" charset="0"/>
              </a:rPr>
              <a:t> job and calculates sum </a:t>
            </a:r>
            <a:endParaRPr kumimoji="0" lang="en-GB" sz="105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76F43322-4F70-4EA7-AA4B-939BCC3A3288}"/>
              </a:ext>
            </a:extLst>
          </p:cNvPr>
          <p:cNvSpPr/>
          <p:nvPr/>
        </p:nvSpPr>
        <p:spPr bwMode="auto">
          <a:xfrm rot="3693365" flipV="1">
            <a:off x="6966782" y="1926218"/>
            <a:ext cx="213687" cy="77051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97A94F8-C660-4419-B63F-7C24F723C6CC}"/>
              </a:ext>
            </a:extLst>
          </p:cNvPr>
          <p:cNvSpPr/>
          <p:nvPr/>
        </p:nvSpPr>
        <p:spPr bwMode="auto">
          <a:xfrm rot="9202229" flipV="1">
            <a:off x="6965326" y="3059794"/>
            <a:ext cx="212708" cy="143562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DAB70681-F912-4A0F-8A34-3EA07F0822A8}"/>
              </a:ext>
            </a:extLst>
          </p:cNvPr>
          <p:cNvSpPr/>
          <p:nvPr/>
        </p:nvSpPr>
        <p:spPr bwMode="auto">
          <a:xfrm rot="10800000">
            <a:off x="3943277" y="4003970"/>
            <a:ext cx="674688" cy="576000"/>
          </a:xfrm>
          <a:prstGeom prst="downArrow">
            <a:avLst/>
          </a:prstGeom>
          <a:solidFill>
            <a:srgbClr val="8C8C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 Narrow" pitchFamily="34" charset="0"/>
              <a:buNone/>
              <a:tabLst/>
            </a:pPr>
            <a:endParaRPr kumimoji="0" lang="en-GB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6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54D97114-94E8-4C9A-8C90-4D22E3C6EE8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2411484" y="1962342"/>
            <a:ext cx="736903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read -p “Questions?"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 Unicode MS" panose="020B0604020202020204" pitchFamily="34" charset="-128"/>
              </a:rPr>
              <a:t>hile [ ! -z “${question}”] ; 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	answer ${question}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	read -p “Next question?"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Arial Unicode MS" panose="020B0604020202020204" pitchFamily="34" charset="-128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 Unicode MS" panose="020B0604020202020204" pitchFamily="34" charset="-128"/>
              </a:rPr>
              <a:t>one</a:t>
            </a:r>
          </a:p>
        </p:txBody>
      </p:sp>
    </p:spTree>
    <p:extLst>
      <p:ext uri="{BB962C8B-B14F-4D97-AF65-F5344CB8AC3E}">
        <p14:creationId xmlns:p14="http://schemas.microsoft.com/office/powerpoint/2010/main" val="3564209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 &amp; sdkpublishers.sh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75D45-17A4-41CE-B795-35BAE5BD6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4" y="969674"/>
            <a:ext cx="7686675" cy="434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9F2896-6FE8-421F-82C3-D6A6302D3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601" y="4739265"/>
            <a:ext cx="64103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2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8EDA6-D878-4C9C-8D66-1A9A3F50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314"/>
            <a:ext cx="12192000" cy="53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3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sdkpublisher.sh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54D81-6F5E-4F98-B676-BB78FAD9F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6384"/>
            <a:ext cx="12192000" cy="38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893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sdkconsumers.sh &amp; sdkpublisher.sh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E36C9-25EE-4062-A0A1-0A28EB926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1" y="922420"/>
            <a:ext cx="7458075" cy="2886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0D55A6-A184-49B6-83DE-E0D61555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199" y="3429000"/>
            <a:ext cx="74866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53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F0F22-4B61-4DC7-B34D-7E2CF956D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04" y="847950"/>
            <a:ext cx="9559636" cy="54570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6AB765-A8CE-4BD1-80BB-F658F6496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338" y="2298583"/>
            <a:ext cx="4063662" cy="349445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E12FDF-1C0F-42E7-8456-14082BB64CF6}"/>
              </a:ext>
            </a:extLst>
          </p:cNvPr>
          <p:cNvCxnSpPr/>
          <p:nvPr/>
        </p:nvCxnSpPr>
        <p:spPr bwMode="auto">
          <a:xfrm>
            <a:off x="7784983" y="1098958"/>
            <a:ext cx="1459685" cy="117445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73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2ECEA2-FD01-410F-A492-46CC11129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38237"/>
            <a:ext cx="5257800" cy="458152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1025" y="1282700"/>
            <a:ext cx="5611053" cy="4551570"/>
          </a:xfrm>
        </p:spPr>
        <p:txBody>
          <a:bodyPr/>
          <a:lstStyle/>
          <a:p>
            <a:r>
              <a:rPr lang="en-US" dirty="0"/>
              <a:t>Just a bit of pre-test setup…</a:t>
            </a:r>
          </a:p>
          <a:p>
            <a:pPr lvl="1"/>
            <a:r>
              <a:rPr lang="en-US" dirty="0"/>
              <a:t>Create directories</a:t>
            </a:r>
          </a:p>
          <a:p>
            <a:pPr lvl="1"/>
            <a:r>
              <a:rPr lang="en-US" dirty="0"/>
              <a:t>Copy scripts over</a:t>
            </a:r>
          </a:p>
          <a:p>
            <a:pPr lvl="1"/>
            <a:r>
              <a:rPr lang="en-US" dirty="0"/>
              <a:t>Make them executable</a:t>
            </a:r>
          </a:p>
        </p:txBody>
      </p:sp>
    </p:spTree>
    <p:extLst>
      <p:ext uri="{BB962C8B-B14F-4D97-AF65-F5344CB8AC3E}">
        <p14:creationId xmlns:p14="http://schemas.microsoft.com/office/powerpoint/2010/main" val="1719466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4625" y="1301173"/>
            <a:ext cx="5611053" cy="4551570"/>
          </a:xfrm>
        </p:spPr>
        <p:txBody>
          <a:bodyPr/>
          <a:lstStyle/>
          <a:p>
            <a:r>
              <a:rPr lang="en-US" dirty="0"/>
              <a:t>Starting </a:t>
            </a:r>
            <a:r>
              <a:rPr lang="en-US" dirty="0" err="1"/>
              <a:t>sdks</a:t>
            </a:r>
            <a:r>
              <a:rPr lang="en-US" dirty="0"/>
              <a:t>…</a:t>
            </a:r>
          </a:p>
          <a:p>
            <a:pPr lvl="1"/>
            <a:r>
              <a:rPr lang="en-US" dirty="0" err="1"/>
              <a:t>async</a:t>
            </a:r>
            <a:r>
              <a:rPr lang="en-US" dirty="0"/>
              <a:t> with </a:t>
            </a:r>
            <a:r>
              <a:rPr lang="en-US" dirty="0" err="1"/>
              <a:t>runlength</a:t>
            </a:r>
            <a:endParaRPr lang="en-US" dirty="0"/>
          </a:p>
          <a:p>
            <a:pPr lvl="1"/>
            <a:r>
              <a:rPr lang="en-US" dirty="0"/>
              <a:t>poll: 0 = fire &amp; forget</a:t>
            </a:r>
          </a:p>
          <a:p>
            <a:pPr lvl="1"/>
            <a:r>
              <a:rPr lang="en-US" dirty="0"/>
              <a:t>poll: 10 = wait for it</a:t>
            </a:r>
          </a:p>
          <a:p>
            <a:pPr lvl="1"/>
            <a:r>
              <a:rPr lang="en-US" dirty="0" err="1"/>
              <a:t>item.index</a:t>
            </a:r>
            <a:r>
              <a:rPr lang="en-US" dirty="0"/>
              <a:t> &lt;= p. hosts</a:t>
            </a:r>
          </a:p>
          <a:p>
            <a:pPr lvl="1"/>
            <a:r>
              <a:rPr lang="en-US" dirty="0" err="1"/>
              <a:t>with_items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each host with</a:t>
            </a:r>
            <a:br>
              <a:rPr lang="en-US" dirty="0"/>
            </a:br>
            <a:r>
              <a:rPr lang="en-US" dirty="0"/>
              <a:t>different topic</a:t>
            </a:r>
          </a:p>
          <a:p>
            <a:pPr lvl="1"/>
            <a:r>
              <a:rPr lang="en-US" dirty="0"/>
              <a:t>register: to collect</a:t>
            </a:r>
          </a:p>
          <a:p>
            <a:pPr marL="457200" lvl="1" indent="0">
              <a:buNone/>
            </a:pPr>
            <a:r>
              <a:rPr lang="en-US" dirty="0"/>
              <a:t>    output later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1F99D-F192-4FFD-9055-7BA1A93D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220" y="1483736"/>
            <a:ext cx="8392780" cy="471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85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 err="1"/>
              <a:t>start_sdk.yaml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1F6C1-215B-4E54-9766-C20774DCB7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681" y="1291937"/>
            <a:ext cx="4748357" cy="4551570"/>
          </a:xfrm>
        </p:spPr>
        <p:txBody>
          <a:bodyPr/>
          <a:lstStyle/>
          <a:p>
            <a:r>
              <a:rPr lang="en-US" dirty="0"/>
              <a:t>Collecting it…</a:t>
            </a:r>
          </a:p>
          <a:p>
            <a:pPr lvl="1"/>
            <a:r>
              <a:rPr lang="en-US" dirty="0"/>
              <a:t>Tries to collect the results of the </a:t>
            </a:r>
            <a:r>
              <a:rPr lang="en-US" dirty="0" err="1"/>
              <a:t>async</a:t>
            </a:r>
            <a:r>
              <a:rPr lang="en-US" dirty="0"/>
              <a:t> jobs every 10 s for a previously calculates no of time</a:t>
            </a:r>
          </a:p>
          <a:p>
            <a:pPr lvl="1"/>
            <a:r>
              <a:rPr lang="en-US" dirty="0" err="1"/>
              <a:t>Ignore_errors</a:t>
            </a:r>
            <a:r>
              <a:rPr lang="en-US" dirty="0"/>
              <a:t>: True</a:t>
            </a:r>
            <a:br>
              <a:rPr lang="en-US" dirty="0"/>
            </a:br>
            <a:r>
              <a:rPr lang="en-US" dirty="0"/>
              <a:t>Don’t worry, we’ll do our error</a:t>
            </a:r>
            <a:br>
              <a:rPr lang="en-US" dirty="0"/>
            </a:br>
            <a:r>
              <a:rPr lang="en-US" dirty="0"/>
              <a:t>handling in the wrapper scripts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12A0FB-CDB9-4E6F-B6F3-B5DF75532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44" y="1005257"/>
            <a:ext cx="69246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00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1197000"/>
            <a:ext cx="5600470" cy="4767572"/>
          </a:xfrm>
        </p:spPr>
        <p:txBody>
          <a:bodyPr/>
          <a:lstStyle/>
          <a:p>
            <a:r>
              <a:rPr lang="en-US" dirty="0"/>
              <a:t>Just a wrapper around the ansible playbook for mainly:</a:t>
            </a:r>
          </a:p>
          <a:p>
            <a:pPr lvl="1"/>
            <a:r>
              <a:rPr lang="en-US" dirty="0"/>
              <a:t>Running a single test</a:t>
            </a:r>
          </a:p>
          <a:p>
            <a:pPr lvl="1"/>
            <a:r>
              <a:rPr lang="en-US" dirty="0"/>
              <a:t>Calculating overall throughput numbers</a:t>
            </a:r>
          </a:p>
          <a:p>
            <a:pPr lvl="1"/>
            <a:r>
              <a:rPr lang="en-US" dirty="0"/>
              <a:t>And: Error handling!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run-test.sh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6F583-0CF9-4A00-8025-CC52DBE37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454" y="847621"/>
            <a:ext cx="6603546" cy="51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0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55385" y="980695"/>
            <a:ext cx="5600470" cy="4983877"/>
          </a:xfrm>
        </p:spPr>
        <p:txBody>
          <a:bodyPr/>
          <a:lstStyle/>
          <a:p>
            <a:r>
              <a:rPr lang="en-US" dirty="0"/>
              <a:t>Fixed-target test runner — loops over test scenario arrays and validates each one hits its target rate.</a:t>
            </a:r>
          </a:p>
          <a:p>
            <a:endParaRPr lang="en-US" dirty="0"/>
          </a:p>
          <a:p>
            <a:r>
              <a:rPr lang="en-US" dirty="0"/>
              <a:t>For each scenario (msg_size : fanout : target_rate : pub_hosts : msg_type):</a:t>
            </a:r>
          </a:p>
          <a:p>
            <a:pPr lvl="1"/>
            <a:r>
              <a:rPr lang="en-US" dirty="0"/>
              <a:t>Calls engine/run-test.sh → ansible-playbook → remote pub/sub scripts</a:t>
            </a:r>
          </a:p>
          <a:p>
            <a:pPr lvl="1"/>
            <a:r>
              <a:rPr lang="en-US" dirty="0"/>
              <a:t>Compares achieved rate vs. target; pass/fail within 5% margin (configurable)</a:t>
            </a:r>
          </a:p>
          <a:p>
            <a:pPr lvl="1"/>
            <a:r>
              <a:rPr lang="en-US" dirty="0"/>
              <a:t>Writes a structured result file to results/{prefix}_{type}_result.txt</a:t>
            </a:r>
          </a:p>
          <a:p>
            <a:endParaRPr lang="en-US" dirty="0"/>
          </a:p>
          <a:p>
            <a:r>
              <a:rPr lang="en-US" dirty="0"/>
              <a:t>Supports up to 7 test arrays in one invocation (separated by ; delimiter).</a:t>
            </a:r>
          </a:p>
          <a:p>
            <a:endParaRPr lang="en-US" dirty="0"/>
          </a:p>
          <a:p>
            <a:r>
              <a:rPr lang="en-US" dirty="0"/>
              <a:t>After all arrays complete:</a:t>
            </a:r>
          </a:p>
          <a:p>
            <a:pPr lvl="1"/>
            <a:r>
              <a:rPr lang="en-US" dirty="0"/>
              <a:t>Prints a pass/fail summary table</a:t>
            </a:r>
          </a:p>
          <a:p>
            <a:pPr lvl="1"/>
            <a:r>
              <a:rPr lang="en-US" dirty="0"/>
              <a:t>Automatically calls engine/analyse-result-set.sh to diagnose bottlenecks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run-testset.sh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4BDC2-5478-466E-8952-7B1BD8979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428"/>
            <a:ext cx="12192000" cy="567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46219"/>
      </p:ext>
    </p:extLst>
  </p:cSld>
  <p:clrMapOvr>
    <a:masterClrMapping/>
  </p:clrMapOvr>
</p:sld>
</file>

<file path=ppt/theme/theme1.xml><?xml version="1.0" encoding="utf-8"?>
<a:theme xmlns:a="http://schemas.openxmlformats.org/drawingml/2006/main" name="Solace Title and Section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lace 2025 Powerpoint Template" id="{FD9B120B-4CEA-4478-B716-18E94A3949BA}" vid="{544B2755-EA10-4DB7-8464-4DE393C9DB9B}"/>
    </a:ext>
  </a:extLst>
</a:theme>
</file>

<file path=ppt/theme/theme2.xml><?xml version="1.0" encoding="utf-8"?>
<a:theme xmlns:a="http://schemas.openxmlformats.org/drawingml/2006/main" name="Solace Content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lace 2025 Powerpoint Template" id="{FD9B120B-4CEA-4478-B716-18E94A3949BA}" vid="{FEFC17F7-B2B7-420F-A918-DF46A5F955D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0c4712-2507-4635-8d96-ac0f8ed1146c" xsi:nil="true"/>
    <lcf76f155ced4ddcb4097134ff3c332f xmlns="b9684263-5219-44dc-8ace-9e9cf51448b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A59E3993B10E4CAD93B4C6B6AB4338" ma:contentTypeVersion="18" ma:contentTypeDescription="Create a new document." ma:contentTypeScope="" ma:versionID="b1c352a0e645668a65a42d6a36924e0e">
  <xsd:schema xmlns:xsd="http://www.w3.org/2001/XMLSchema" xmlns:xs="http://www.w3.org/2001/XMLSchema" xmlns:p="http://schemas.microsoft.com/office/2006/metadata/properties" xmlns:ns2="b9684263-5219-44dc-8ace-9e9cf51448b5" xmlns:ns3="c50c4712-2507-4635-8d96-ac0f8ed1146c" targetNamespace="http://schemas.microsoft.com/office/2006/metadata/properties" ma:root="true" ma:fieldsID="0ebac1cb52d4c4ca9196d097ceac5630" ns2:_="" ns3:_="">
    <xsd:import namespace="b9684263-5219-44dc-8ace-9e9cf51448b5"/>
    <xsd:import namespace="c50c4712-2507-4635-8d96-ac0f8ed114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684263-5219-44dc-8ace-9e9cf5144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c2f205f-3591-4b07-93bc-42e411de05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c4712-2507-4635-8d96-ac0f8ed1146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003eb83-64fc-4118-a01e-0346fd43c7c4}" ma:internalName="TaxCatchAll" ma:showField="CatchAllData" ma:web="c50c4712-2507-4635-8d96-ac0f8ed114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471C70-1727-4A93-A528-B2FB0F1E4E8F}">
  <ds:schemaRefs>
    <ds:schemaRef ds:uri="c50c4712-2507-4635-8d96-ac0f8ed1146c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b9684263-5219-44dc-8ace-9e9cf51448b5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5590A90-ABCF-443C-A154-8FE4DFA404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684263-5219-44dc-8ace-9e9cf51448b5"/>
    <ds:schemaRef ds:uri="c50c4712-2507-4635-8d96-ac0f8ed114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AF0659-183A-43C2-AA7B-C08381F298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</TotalTime>
  <Words>1374</Words>
  <Application>Microsoft Office PowerPoint</Application>
  <PresentationFormat>Widescreen</PresentationFormat>
  <Paragraphs>177</Paragraphs>
  <Slides>20</Slides>
  <Notes>0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Arial Narrow</vt:lpstr>
      <vt:lpstr>Arial Unicode MS</vt:lpstr>
      <vt:lpstr>Gill Sans</vt:lpstr>
      <vt:lpstr>Segoe UI</vt:lpstr>
      <vt:lpstr>Solace Title and Section Slides</vt:lpstr>
      <vt:lpstr>Solace Content Slides</vt:lpstr>
      <vt:lpstr>Solace Performance Testing Harness</vt:lpstr>
      <vt:lpstr>Purpose</vt:lpstr>
      <vt:lpstr>The Problem</vt:lpstr>
      <vt:lpstr>The Solution: Automation via Shell Scripts and Ansible</vt:lpstr>
      <vt:lpstr>Overview of test setup</vt:lpstr>
      <vt:lpstr>Test set script formats</vt:lpstr>
      <vt:lpstr>When you don’t know what to expect:  run-binsearch-testset.sh</vt:lpstr>
      <vt:lpstr>analyse-result-set.sh</vt:lpstr>
      <vt:lpstr>The Framework</vt:lpstr>
      <vt:lpstr>PowerPoint Presentation</vt:lpstr>
      <vt:lpstr>sdkconsumers.sh &amp; sdkpublishers.sh</vt:lpstr>
      <vt:lpstr>sdkconsumers.sh</vt:lpstr>
      <vt:lpstr>sdkpublisher.sh</vt:lpstr>
      <vt:lpstr>sdkconsumers.sh &amp; sdkpublisher.sh</vt:lpstr>
      <vt:lpstr>start_sdk.yaml</vt:lpstr>
      <vt:lpstr>start_sdk.yaml</vt:lpstr>
      <vt:lpstr>start_sdk.yaml</vt:lpstr>
      <vt:lpstr>start_sdk.yaml</vt:lpstr>
      <vt:lpstr>run-test.sh</vt:lpstr>
      <vt:lpstr>run-testset.sh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Johnson</dc:creator>
  <cp:lastModifiedBy>Christian Holtfurth</cp:lastModifiedBy>
  <cp:revision>18</cp:revision>
  <dcterms:created xsi:type="dcterms:W3CDTF">2025-05-07T00:01:48Z</dcterms:created>
  <dcterms:modified xsi:type="dcterms:W3CDTF">2026-04-30T13:01:57Z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0x010100DBA59E3993B10E4CAD93B4C6B6AB4338</vt:lpwstr>
  </property>
  <property fmtid="{D5CDD505-2E9C-101B-9397-08002B2CF9AE}" pid="3" name="MediaServiceImageTags">
    <vt:lpwstr/>
  </property>
</Properties>
</file>